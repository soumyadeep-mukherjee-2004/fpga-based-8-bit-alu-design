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C75CE8-21CA-4E90-9153-5DD67D13AE58}" v="13" dt="2026-02-26T16:57:52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3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0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2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4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6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9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3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08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96447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33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80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75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796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5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236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73FA-D596-70BB-5D6B-0850DC2735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8-bit ALU VLSI Design with 16 choices IC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907B6-142B-13C8-ED62-A589F049F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593414" cy="1655762"/>
          </a:xfrm>
        </p:spPr>
        <p:txBody>
          <a:bodyPr>
            <a:normAutofit/>
          </a:bodyPr>
          <a:lstStyle/>
          <a:p>
            <a:pPr lvl="1" algn="l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: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Soumyadeep Mukherjee, Subhadip Hait, Rup Mondal, Suman Bera, Subhodeep Ghosh, Subhadeep Jana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43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Arithmetic Logic Unit (ALU) is the computational core of a digital processor.</a:t>
            </a:r>
          </a:p>
          <a:p>
            <a:r>
              <a:t>It performs arithmetic operations like addition and subtraction and logical operations like AND, OR and XOR.</a:t>
            </a:r>
          </a:p>
          <a:p>
            <a:endParaRPr/>
          </a:p>
          <a:p>
            <a:r>
              <a:t>An 8-bit ALU processes 8-bit binary data and produces 8-bit output.</a:t>
            </a:r>
          </a:p>
          <a:p>
            <a:r>
              <a:t>It works according to control signals generated by control unit.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07E8B-5840-8E42-59B6-C4D99A8AB6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0772" y="0"/>
            <a:ext cx="9042455" cy="677442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ALU takes two 8-bit inputs A and B.</a:t>
            </a:r>
          </a:p>
          <a:p>
            <a:r>
              <a:t>A 4-bit control signal selects one operation among 16 operations.</a:t>
            </a:r>
          </a:p>
          <a:p>
            <a:endParaRPr/>
          </a:p>
          <a:p>
            <a:r>
              <a:t>Arithmetic block performs addition and subtraction.</a:t>
            </a:r>
          </a:p>
          <a:p>
            <a:r>
              <a:t>Logic block performs logical operations.</a:t>
            </a:r>
          </a:p>
          <a:p>
            <a:r>
              <a:t>Shift block performs shift operations.</a:t>
            </a:r>
          </a:p>
          <a:p>
            <a:endParaRPr/>
          </a:p>
          <a:p>
            <a:r>
              <a:t>Multiplexer selects final output.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5F4B7-67AE-579D-7226-70C7C6CC00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658" y="93314"/>
            <a:ext cx="9065342" cy="676468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DATATYPE REQUIREMENT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Input</a:t>
            </a:r>
            <a:r>
              <a:rPr lang="en-US" dirty="0"/>
              <a:t>s may be declared as </a:t>
            </a:r>
            <a:r>
              <a:rPr lang="en-US" dirty="0" err="1"/>
              <a:t>STD_LOGIC_VECTOR</a:t>
            </a:r>
            <a:r>
              <a:rPr lang="en-US" dirty="0"/>
              <a:t>.</a:t>
            </a:r>
            <a:endParaRPr dirty="0"/>
          </a:p>
          <a:p>
            <a:r>
              <a:rPr lang="en-US" dirty="0"/>
              <a:t>For arithmetic operations, converted to unsigned.</a:t>
            </a:r>
            <a:endParaRPr dirty="0"/>
          </a:p>
          <a:p>
            <a:r>
              <a:rPr lang="en-US" dirty="0"/>
              <a:t>Multiplication and division work only on unsigned, signed, or integer types.</a:t>
            </a:r>
            <a:endParaRPr dirty="0"/>
          </a:p>
          <a:p>
            <a:r>
              <a:rPr dirty="0"/>
              <a:t>Shifter Circuit performs bit shifting.</a:t>
            </a:r>
          </a:p>
          <a:p>
            <a:r>
              <a:rPr dirty="0"/>
              <a:t>Multiplexer selects required output.</a:t>
            </a:r>
          </a:p>
          <a:p>
            <a:endParaRPr dirty="0"/>
          </a:p>
          <a:p>
            <a:r>
              <a:rPr dirty="0"/>
              <a:t>Flags Generated:</a:t>
            </a:r>
          </a:p>
          <a:p>
            <a:r>
              <a:rPr dirty="0"/>
              <a:t>Carry Flag</a:t>
            </a:r>
          </a:p>
          <a:p>
            <a:r>
              <a:rPr dirty="0"/>
              <a:t>Zero Flag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557AC3-1C1B-59B0-8F5E-F755BB4DFF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13342" y="1"/>
            <a:ext cx="9157342" cy="685800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 Operations of ALU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4047009"/>
          </a:xfrm>
        </p:spPr>
        <p:txBody>
          <a:bodyPr>
            <a:noAutofit/>
          </a:bodyPr>
          <a:lstStyle/>
          <a:p>
            <a:r>
              <a:rPr lang="en-US" dirty="0"/>
              <a:t>0</a:t>
            </a:r>
            <a:r>
              <a:rPr lang="en-IN" dirty="0"/>
              <a:t>000	ADD</a:t>
            </a:r>
          </a:p>
          <a:p>
            <a:r>
              <a:rPr lang="en-IN" dirty="0"/>
              <a:t>0001	SUB</a:t>
            </a:r>
          </a:p>
          <a:p>
            <a:r>
              <a:rPr lang="en-IN" dirty="0"/>
              <a:t>0010	MUL</a:t>
            </a:r>
          </a:p>
          <a:p>
            <a:r>
              <a:rPr lang="en-IN" dirty="0"/>
              <a:t>0011	DIV</a:t>
            </a:r>
          </a:p>
          <a:p>
            <a:r>
              <a:rPr lang="en-IN" dirty="0"/>
              <a:t>0100	AND</a:t>
            </a:r>
          </a:p>
          <a:p>
            <a:r>
              <a:rPr lang="en-IN" dirty="0"/>
              <a:t>0101	OR</a:t>
            </a:r>
          </a:p>
          <a:p>
            <a:r>
              <a:rPr lang="en-IN" dirty="0"/>
              <a:t>0110	XOR</a:t>
            </a:r>
          </a:p>
          <a:p>
            <a:r>
              <a:rPr lang="en-IN" dirty="0"/>
              <a:t>0111	NOT</a:t>
            </a:r>
          </a:p>
          <a:p>
            <a:endParaRPr sz="1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37724-6C40-BBD1-B079-BCB229B95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978183"/>
          </a:xfrm>
        </p:spPr>
        <p:txBody>
          <a:bodyPr>
            <a:noAutofit/>
          </a:bodyPr>
          <a:lstStyle/>
          <a:p>
            <a:r>
              <a:rPr lang="en-US" dirty="0"/>
              <a:t>1000	NAND</a:t>
            </a:r>
          </a:p>
          <a:p>
            <a:r>
              <a:rPr lang="en-US" dirty="0"/>
              <a:t>1001	NOR</a:t>
            </a:r>
          </a:p>
          <a:p>
            <a:r>
              <a:rPr lang="en-US" dirty="0"/>
              <a:t>1010	XNOR</a:t>
            </a:r>
          </a:p>
          <a:p>
            <a:r>
              <a:rPr lang="en-US" dirty="0"/>
              <a:t>1011	INC</a:t>
            </a:r>
          </a:p>
          <a:p>
            <a:r>
              <a:rPr lang="en-US" dirty="0"/>
              <a:t>1100	DEC</a:t>
            </a:r>
          </a:p>
          <a:p>
            <a:r>
              <a:rPr lang="en-US" dirty="0"/>
              <a:t>1101	SHL</a:t>
            </a:r>
          </a:p>
          <a:p>
            <a:r>
              <a:rPr lang="en-US" dirty="0"/>
              <a:t>1110	SHR</a:t>
            </a:r>
          </a:p>
          <a:p>
            <a:r>
              <a:rPr lang="en-US" dirty="0"/>
              <a:t>1111	PASS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CD490-18E4-718C-CEA2-74BE7252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45628"/>
            <a:ext cx="9144000" cy="6812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REQUIREMENTS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case statement for operation selection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Used combinational process block.</a:t>
            </a:r>
          </a:p>
          <a:p>
            <a:r>
              <a:rPr lang="en-US" dirty="0"/>
              <a:t>Convert final result back to STD_LOGIC_VECTOR.</a:t>
            </a:r>
          </a:p>
          <a:p>
            <a:r>
              <a:rPr lang="en-US" dirty="0"/>
              <a:t>Ensure code synthesizable.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E209-1217-54FF-D328-0F62E453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LIBRARIES AND REQUIREMENTS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2DD8F-72F9-A753-6251-7BF0D14F0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 SPECIFICATIONS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558FE-2208-7200-E85D-E7B9F5013D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A = 8 bits</a:t>
            </a:r>
          </a:p>
          <a:p>
            <a:r>
              <a:rPr lang="en-US" dirty="0"/>
              <a:t>Input B = 8 bits</a:t>
            </a:r>
          </a:p>
          <a:p>
            <a:r>
              <a:rPr lang="en-US" dirty="0"/>
              <a:t>Select line S = 4 bits</a:t>
            </a:r>
          </a:p>
          <a:p>
            <a:r>
              <a:rPr lang="en-US" dirty="0"/>
              <a:t>Output y = 8 bits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364FB-9AB5-B91D-9765-F293DCF0F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MANDATORY LIBRARIES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D2C5B-663D-E6F0-44AE-6C6F4B3FFC4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IEEE;</a:t>
            </a:r>
          </a:p>
          <a:p>
            <a:r>
              <a:rPr lang="en-US" dirty="0"/>
              <a:t>Use IEEE.STD_LOGIC_1164.ALL;</a:t>
            </a:r>
          </a:p>
          <a:p>
            <a:r>
              <a:rPr lang="en-US" dirty="0"/>
              <a:t>Use</a:t>
            </a:r>
            <a:br>
              <a:rPr lang="en-US" dirty="0"/>
            </a:br>
            <a:r>
              <a:rPr lang="en-US" dirty="0"/>
              <a:t>IEEE.NUMERIC_STD.ALL;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73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Applications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Applications:</a:t>
            </a:r>
          </a:p>
          <a:p>
            <a:r>
              <a:rPr dirty="0"/>
              <a:t>Microprocessors</a:t>
            </a:r>
          </a:p>
          <a:p>
            <a:r>
              <a:rPr dirty="0"/>
              <a:t>Microcontrollers</a:t>
            </a:r>
          </a:p>
          <a:p>
            <a:r>
              <a:rPr dirty="0"/>
              <a:t>DSP Systems</a:t>
            </a:r>
          </a:p>
          <a:p>
            <a:r>
              <a:rPr dirty="0"/>
              <a:t>Digital Electronics</a:t>
            </a:r>
          </a:p>
          <a:p>
            <a:endParaRPr dirty="0"/>
          </a:p>
          <a:p>
            <a:r>
              <a:rPr dirty="0"/>
              <a:t>The designed 8-bit ALU performs 16 operations efficiently.</a:t>
            </a:r>
          </a:p>
          <a:p>
            <a:r>
              <a:rPr dirty="0"/>
              <a:t>It demonstrates basic VLSI design concepts.</a:t>
            </a:r>
          </a:p>
          <a:p>
            <a:r>
              <a:rPr dirty="0"/>
              <a:t>The design can be extended to 16-bit and 32-bit ALU.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61963-1C6F-8DD4-8B39-87A5FFB7D8F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8966" y="1"/>
            <a:ext cx="9106068" cy="68579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583E-6F20-7F9C-CAF0-2D0276444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lang="en-IN" sz="6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C3D30-8CE4-25FA-60A5-ABAD964BE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8-bit Arithmetic Logic Unit (ALU)</a:t>
            </a:r>
            <a:r>
              <a:rPr lang="en-US" dirty="0"/>
              <a:t> was successfully designed to perform </a:t>
            </a:r>
            <a:r>
              <a:rPr lang="en-US" b="1" dirty="0"/>
              <a:t>16 arithmetic, logical, shift, and data transfer operations</a:t>
            </a:r>
            <a:r>
              <a:rPr lang="en-US" dirty="0"/>
              <a:t> using digital design principles. The ALU processes two 8-bit inputs and produces an 8-bit output based on control signals, demonstrating the fundamental operation of a processor's computation unit.</a:t>
            </a:r>
          </a:p>
          <a:p>
            <a:r>
              <a:rPr lang="en-US" dirty="0"/>
              <a:t>This project helped in understanding the </a:t>
            </a:r>
            <a:r>
              <a:rPr lang="en-US" b="1" dirty="0"/>
              <a:t>architecture of ALU, control signal operation, and VLSI design concepts</a:t>
            </a:r>
            <a:r>
              <a:rPr lang="en-US" dirty="0"/>
              <a:t> such as modular design, speed optimization, and efficient hardware utilization. The design shows how complex processor operations can be implemented using simple digital building blocks.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5AE78D-9157-7EDF-A815-3B04A52AF2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77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A188-AECA-D413-9F73-A6177B0C54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sz="2700" dirty="0"/>
              <a:t>ANY QUESTIONS?</a:t>
            </a:r>
            <a:br>
              <a:rPr lang="en-US" sz="2700" dirty="0"/>
            </a:br>
            <a:endParaRPr lang="en-IN" sz="2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5F8364-5981-0DE6-141A-5F99C05E28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61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73</TotalTime>
  <Words>469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8-bit ALU VLSI Design with 16 choices IC</vt:lpstr>
      <vt:lpstr>Introduction to ALU</vt:lpstr>
      <vt:lpstr>Working Principle</vt:lpstr>
      <vt:lpstr>DATATYPE REQUIREMENT</vt:lpstr>
      <vt:lpstr>16 Operations of ALU</vt:lpstr>
      <vt:lpstr>DESIGN REQUIREMENTS</vt:lpstr>
      <vt:lpstr>LIBRARIES AND REQUIREMENTS</vt:lpstr>
      <vt:lpstr>Applications </vt:lpstr>
      <vt:lpstr>Conclusion</vt:lpstr>
      <vt:lpstr>THANK YOU ANY QUESTIONS?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soumyadeep mukherjee</cp:lastModifiedBy>
  <cp:revision>4</cp:revision>
  <dcterms:created xsi:type="dcterms:W3CDTF">2013-01-27T09:14:16Z</dcterms:created>
  <dcterms:modified xsi:type="dcterms:W3CDTF">2026-09-17T18:41:15Z</dcterms:modified>
  <cp:category/>
</cp:coreProperties>
</file>